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1" r:id="rId6"/>
    <p:sldId id="272" r:id="rId7"/>
    <p:sldId id="260" r:id="rId8"/>
    <p:sldId id="261" r:id="rId9"/>
    <p:sldId id="273" r:id="rId10"/>
    <p:sldId id="274" r:id="rId11"/>
    <p:sldId id="267" r:id="rId12"/>
    <p:sldId id="266" r:id="rId13"/>
    <p:sldId id="263" r:id="rId14"/>
    <p:sldId id="262" r:id="rId15"/>
    <p:sldId id="264" r:id="rId16"/>
    <p:sldId id="265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-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1673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B35508"/>
          </a:solidFill>
          <a:ln w="12700">
            <a:solidFill>
              <a:srgbClr val="B3550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256032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0" y="36576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de Planificación Inteligente de Asados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0" y="1097280"/>
            <a:ext cx="5486400" cy="36576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3200400" y="123444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LA FORMA INTELIGENTE DE HACER ASADOS</a:t>
            </a:r>
          </a:p>
        </p:txBody>
      </p:sp>
      <p:sp>
        <p:nvSpPr>
          <p:cNvPr id="8" name="Text 5"/>
          <p:cNvSpPr/>
          <p:nvPr/>
        </p:nvSpPr>
        <p:spPr>
          <a:xfrm>
            <a:off x="3200400" y="182880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Luis Sánchez  ·  Joaquín Meneses  ·  Rodrigo Ampuero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Duoc UC – Escuela de Informática y Telecomunicaciones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74320" y="44348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35508"/>
          </a:solidFill>
          <a:ln w="12700">
            <a:solidFill>
              <a:srgbClr val="B3550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Equipo de Trabajo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3931920"/>
          </a:xfrm>
          <a:prstGeom prst="rect">
            <a:avLst/>
          </a:prstGeom>
          <a:solidFill>
            <a:srgbClr val="2C2C2C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45720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Líder del Proyecto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69553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Rodrigo Ampuero Orellana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2194560" cy="18288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MX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DESARROLLADOR</a:t>
            </a:r>
          </a:p>
          <a:p>
            <a:pPr algn="ctr"/>
            <a:r>
              <a:rPr lang="es-MX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RESPONSABLE</a:t>
            </a:r>
          </a:p>
          <a:p>
            <a:pPr algn="ctr"/>
            <a:r>
              <a:rPr lang="es-MX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BACKEND Y</a:t>
            </a:r>
          </a:p>
          <a:p>
            <a:pPr algn="ctr"/>
            <a:r>
              <a:rPr lang="es-MX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APOYO FRONTEND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2743200" cy="3931920"/>
          </a:xfrm>
          <a:prstGeom prst="rect">
            <a:avLst/>
          </a:prstGeom>
          <a:solidFill>
            <a:srgbClr val="2C2C2C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4" name="Shape 12"/>
          <p:cNvSpPr/>
          <p:nvPr/>
        </p:nvSpPr>
        <p:spPr>
          <a:xfrm>
            <a:off x="3291840" y="1005840"/>
            <a:ext cx="2743200" cy="4572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329184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Analista Funcional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5196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83280" y="269553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Joaquín Meneses Lillo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66160" y="3291840"/>
            <a:ext cx="2194560" cy="1828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3383280" y="33832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MX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 DEL</a:t>
            </a:r>
          </a:p>
          <a:p>
            <a:pPr algn="ctr"/>
            <a:r>
              <a:rPr lang="es-MX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Y</a:t>
            </a:r>
          </a:p>
          <a:p>
            <a:pPr algn="ctr"/>
            <a:r>
              <a:rPr lang="es-MX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</a:t>
            </a:r>
          </a:p>
          <a:p>
            <a:pPr algn="ctr"/>
            <a:r>
              <a:rPr lang="es-MX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1005840"/>
            <a:ext cx="2743200" cy="3931920"/>
          </a:xfrm>
          <a:prstGeom prst="rect">
            <a:avLst/>
          </a:prstGeom>
          <a:solidFill>
            <a:srgbClr val="2C2C2C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6217920" y="1005840"/>
            <a:ext cx="2743200" cy="4572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621792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Analista de Datos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26917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Luis Sánchez Hidalgo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92240" y="3291840"/>
            <a:ext cx="2194560" cy="1828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6309360" y="33832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MX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 DE DATOS</a:t>
            </a:r>
          </a:p>
          <a:p>
            <a:pPr algn="ctr"/>
            <a:r>
              <a:rPr lang="es-MX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MODELADOR DE</a:t>
            </a:r>
          </a:p>
          <a:p>
            <a:pPr algn="ctr"/>
            <a:r>
              <a:rPr lang="es-MX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BASES DE DATOS</a:t>
            </a:r>
            <a:endParaRPr lang="en-US" sz="11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8412480" y="4526280"/>
            <a:ext cx="548640" cy="548640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2B9600E2-1673-BF14-E66A-E2CDE3B86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765" y="1522233"/>
            <a:ext cx="749557" cy="1299865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F16BBDEE-8DED-5CE9-C411-FE02909D50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9057" y="1554480"/>
            <a:ext cx="771139" cy="1286779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4F54FA9E-AFB4-F8BC-35B6-641603703D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2396" y="1554481"/>
            <a:ext cx="919208" cy="12676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02920" cy="59436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0515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</a:t>
            </a: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14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</a:t>
            </a:r>
            <a:r>
              <a:rPr lang="en-US" sz="14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0" y="10515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664208"/>
            <a:ext cx="8412480" cy="594360"/>
          </a:xfrm>
          <a:prstGeom prst="rect">
            <a:avLst/>
          </a:prstGeom>
          <a:solidFill>
            <a:srgbClr val="FDE9D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365760" y="1664208"/>
            <a:ext cx="502920" cy="59436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365760" y="166420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170992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· Arquitectura · Diagramas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0" y="170992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322576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16" name="Shape 14"/>
          <p:cNvSpPr/>
          <p:nvPr/>
        </p:nvSpPr>
        <p:spPr>
          <a:xfrm>
            <a:off x="365760" y="2322576"/>
            <a:ext cx="502920" cy="59436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365760" y="232257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36829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</a:t>
            </a: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4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</a:t>
            </a: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ejecutadas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0" y="2368296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980944"/>
            <a:ext cx="8412480" cy="594360"/>
          </a:xfrm>
          <a:prstGeom prst="rect">
            <a:avLst/>
          </a:prstGeom>
          <a:solidFill>
            <a:srgbClr val="FDE9D9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365760" y="2980944"/>
            <a:ext cx="502920" cy="59436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365760" y="298094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026664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de Inteligencia Artificial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0" y="3026664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639312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365760" y="3639312"/>
            <a:ext cx="502920" cy="59436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365760" y="363931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368503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98080" y="368503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98080" y="43434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8412480" y="4526280"/>
            <a:ext cx="548640" cy="548640"/>
          </a:xfrm>
          <a:prstGeom prst="rect">
            <a:avLst/>
          </a:prstGeom>
        </p:spPr>
      </p:pic>
      <p:sp>
        <p:nvSpPr>
          <p:cNvPr id="36" name="Text 31">
            <a:extLst>
              <a:ext uri="{FF2B5EF4-FFF2-40B4-BE49-F238E27FC236}">
                <a16:creationId xmlns:a16="http://schemas.microsoft.com/office/drawing/2014/main" id="{91C857BA-A205-5CC2-AB32-FC4D966542E3}"/>
              </a:ext>
            </a:extLst>
          </p:cNvPr>
          <p:cNvSpPr/>
          <p:nvPr/>
        </p:nvSpPr>
        <p:spPr>
          <a:xfrm>
            <a:off x="960120" y="376275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</a:t>
            </a:r>
            <a:r>
              <a:rPr lang="en-US" sz="14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vivo — </a:t>
            </a:r>
            <a:r>
              <a:rPr lang="en-US" sz="14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</a:t>
            </a: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completo</a:t>
            </a: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del </a:t>
            </a:r>
            <a:r>
              <a:rPr lang="en-US" sz="14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35508"/>
          </a:solidFill>
          <a:ln w="12700">
            <a:solidFill>
              <a:srgbClr val="B3550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Descripción del Proyecto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3931920"/>
          </a:xfrm>
          <a:prstGeom prst="rect">
            <a:avLst/>
          </a:prstGeom>
          <a:solidFill>
            <a:srgbClr val="2C2C2C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BASADOS es una plataforma web que permite planificar asados de forma eficiente, facilitando el cálculo de insumos, la comparación de precios entre supermercados, la división de gastos y la generación de recomendaciones mediante inteligencia artificial.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880360"/>
            <a:ext cx="3840480" cy="18288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502920" y="2971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46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objetivo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Personas mayores de 18 años que organizan asados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Grupos de amigos y familias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Usuarios que buscan optimizar tiempo y costos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Usuarios digitales con hábito de compras online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2011680" cy="868680"/>
          </a:xfrm>
          <a:prstGeom prst="rect">
            <a:avLst/>
          </a:prstGeom>
          <a:solidFill>
            <a:srgbClr val="2C2C2C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754880" y="1051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00600" y="1463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5.652 productos reales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03720" y="1005840"/>
            <a:ext cx="2011680" cy="868680"/>
          </a:xfrm>
          <a:prstGeom prst="rect">
            <a:avLst/>
          </a:prstGeom>
          <a:solidFill>
            <a:srgbClr val="2C2C2C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6903720" y="1051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49440" y="1463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Sugerencias IA (Claude Haiku)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011680"/>
            <a:ext cx="2011680" cy="868680"/>
          </a:xfrm>
          <a:prstGeom prst="rect">
            <a:avLst/>
          </a:prstGeom>
          <a:solidFill>
            <a:srgbClr val="2C2C2C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475488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00600" y="2468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Cotización Lider · Tottus · Jumbo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03720" y="2011680"/>
            <a:ext cx="2011680" cy="868680"/>
          </a:xfrm>
          <a:prstGeom prst="rect">
            <a:avLst/>
          </a:prstGeom>
          <a:solidFill>
            <a:srgbClr val="2C2C2C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690372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👨‍🍳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49440" y="2468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 maestro asador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017520"/>
            <a:ext cx="2011680" cy="868680"/>
          </a:xfrm>
          <a:prstGeom prst="rect">
            <a:avLst/>
          </a:prstGeom>
          <a:solidFill>
            <a:srgbClr val="2C2C2C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475488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00600" y="3474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Reparto automático de costos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03720" y="3017520"/>
            <a:ext cx="2011680" cy="868680"/>
          </a:xfrm>
          <a:prstGeom prst="rect">
            <a:avLst/>
          </a:prstGeom>
          <a:solidFill>
            <a:srgbClr val="2C2C2C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690372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49440" y="3474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Notificaciones Email · WhatsApp</a:t>
            </a:r>
            <a:endParaRPr lang="en-US" sz="10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8412480" y="45262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35508"/>
          </a:solidFill>
          <a:ln w="12700">
            <a:solidFill>
              <a:srgbClr val="B3550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400" b="1" dirty="0">
                <a:solidFill>
                  <a:srgbClr val="FFFFFF"/>
                </a:solidFill>
                <a:latin typeface="Arial Black" pitchFamily="34" charset="0"/>
              </a:rPr>
              <a:t>Problema y Oportunidad</a:t>
            </a:r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938840" cy="3931920"/>
          </a:xfrm>
          <a:prstGeom prst="rect">
            <a:avLst/>
          </a:prstGeom>
          <a:solidFill>
            <a:srgbClr val="2C2C2C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466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400" b="1" dirty="0">
                <a:solidFill>
                  <a:srgbClr val="E46C0A"/>
                </a:solidFill>
                <a:latin typeface="Arial" pitchFamily="34" charset="0"/>
              </a:rPr>
              <a:t>🐟 Diagrama de Ishikawa</a:t>
            </a:r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466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000" b="1" dirty="0">
                <a:solidFill>
                  <a:srgbClr val="FFFFFF"/>
                </a:solidFill>
                <a:latin typeface="Arial" pitchFamily="34" charset="0"/>
              </a:rPr>
              <a:t>Efecto: Desorganización en la planificación de asados grupales</a:t>
            </a:r>
          </a:p>
        </p:txBody>
      </p:sp>
      <p:pic>
        <p:nvPicPr>
          <p:cNvPr id="7" name="Ishikawa" descr="ishika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37360"/>
            <a:ext cx="4846440" cy="3063240"/>
          </a:xfrm>
          <a:prstGeom prst="rect">
            <a:avLst/>
          </a:prstGeom>
        </p:spPr>
      </p:pic>
      <p:sp>
        <p:nvSpPr>
          <p:cNvPr id="8" name="Shape 7"/>
          <p:cNvSpPr/>
          <p:nvPr/>
        </p:nvSpPr>
        <p:spPr>
          <a:xfrm>
            <a:off x="5395320" y="1005840"/>
            <a:ext cx="3612960" cy="3931920"/>
          </a:xfrm>
          <a:prstGeom prst="rect">
            <a:avLst/>
          </a:prstGeom>
          <a:solidFill>
            <a:srgbClr val="2C2C2C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8"/>
          <p:cNvSpPr/>
          <p:nvPr/>
        </p:nvSpPr>
        <p:spPr>
          <a:xfrm>
            <a:off x="5486760" y="105156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400" b="1" dirty="0">
                <a:solidFill>
                  <a:srgbClr val="E46C0A"/>
                </a:solidFill>
                <a:latin typeface="Arial" pitchFamily="34" charset="0"/>
              </a:rPr>
              <a:t>💡 Oportunidad</a:t>
            </a:r>
          </a:p>
        </p:txBody>
      </p:sp>
      <p:sp>
        <p:nvSpPr>
          <p:cNvPr id="10" name="Card1 bg"/>
          <p:cNvSpPr/>
          <p:nvPr/>
        </p:nvSpPr>
        <p:spPr>
          <a:xfrm>
            <a:off x="5486760" y="1417320"/>
            <a:ext cx="3429000" cy="731520"/>
          </a:xfrm>
          <a:prstGeom prst="rect">
            <a:avLst/>
          </a:prstGeom>
          <a:solidFill>
            <a:srgbClr val="3A3A3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Card1 txt"/>
          <p:cNvSpPr/>
          <p:nvPr/>
        </p:nvSpPr>
        <p:spPr>
          <a:xfrm>
            <a:off x="5578200" y="14630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100" b="1" dirty="0">
                <a:solidFill>
                  <a:srgbClr val="FFFFFF"/>
                </a:solidFill>
                <a:latin typeface="Arial" pitchFamily="34" charset="0"/>
              </a:rPr>
              <a:t>📊 Plataforma centralizada</a:t>
            </a:r>
          </a:p>
          <a:p>
            <a:pPr marL="0" indent="0">
              <a:buNone/>
            </a:pPr>
            <a:r>
              <a:rPr lang="es-CL" sz="1000" dirty="0">
                <a:solidFill>
                  <a:srgbClr val="AAAAAA"/>
                </a:solidFill>
                <a:latin typeface="Arial" pitchFamily="34" charset="0"/>
              </a:rPr>
              <a:t>Cálculo automático de insumos por persona</a:t>
            </a:r>
          </a:p>
        </p:txBody>
      </p:sp>
      <p:sp>
        <p:nvSpPr>
          <p:cNvPr id="12" name="Card2 bg"/>
          <p:cNvSpPr/>
          <p:nvPr/>
        </p:nvSpPr>
        <p:spPr>
          <a:xfrm>
            <a:off x="5486760" y="2194560"/>
            <a:ext cx="3429000" cy="731520"/>
          </a:xfrm>
          <a:prstGeom prst="rect">
            <a:avLst/>
          </a:prstGeom>
          <a:solidFill>
            <a:srgbClr val="3A3A3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Card2 txt"/>
          <p:cNvSpPr/>
          <p:nvPr/>
        </p:nvSpPr>
        <p:spPr>
          <a:xfrm>
            <a:off x="5578200" y="224028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100" b="1" dirty="0">
                <a:solidFill>
                  <a:srgbClr val="FFFFFF"/>
                </a:solidFill>
                <a:latin typeface="Arial" pitchFamily="34" charset="0"/>
              </a:rPr>
              <a:t>🛒 Comparación de precios</a:t>
            </a:r>
          </a:p>
          <a:p>
            <a:pPr marL="0" indent="0">
              <a:buNone/>
            </a:pPr>
            <a:r>
              <a:rPr lang="es-CL" sz="1000" dirty="0">
                <a:solidFill>
                  <a:srgbClr val="AAAAAA"/>
                </a:solidFill>
                <a:latin typeface="Arial" pitchFamily="34" charset="0"/>
              </a:rPr>
              <a:t>Scraping Lider, Tottus y Jumbo — 5.652 productos</a:t>
            </a:r>
          </a:p>
        </p:txBody>
      </p:sp>
      <p:sp>
        <p:nvSpPr>
          <p:cNvPr id="14" name="Card3 bg"/>
          <p:cNvSpPr/>
          <p:nvPr/>
        </p:nvSpPr>
        <p:spPr>
          <a:xfrm>
            <a:off x="5486760" y="2971800"/>
            <a:ext cx="3429000" cy="731520"/>
          </a:xfrm>
          <a:prstGeom prst="rect">
            <a:avLst/>
          </a:prstGeom>
          <a:solidFill>
            <a:srgbClr val="3A3A3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Card3 txt"/>
          <p:cNvSpPr/>
          <p:nvPr/>
        </p:nvSpPr>
        <p:spPr>
          <a:xfrm>
            <a:off x="5578200" y="30175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100" b="1" dirty="0">
                <a:solidFill>
                  <a:srgbClr val="FFFFFF"/>
                </a:solidFill>
                <a:latin typeface="Arial" pitchFamily="34" charset="0"/>
              </a:rPr>
              <a:t>🤖 Recomendaciones con IA</a:t>
            </a:r>
          </a:p>
          <a:p>
            <a:pPr marL="0" indent="0">
              <a:buNone/>
            </a:pPr>
            <a:r>
              <a:rPr lang="es-CL" sz="1000" dirty="0">
                <a:solidFill>
                  <a:srgbClr val="AAAAAA"/>
                </a:solidFill>
                <a:latin typeface="Arial" pitchFamily="34" charset="0"/>
              </a:rPr>
              <a:t>Sugerencias personalizadas con Claude Haiku</a:t>
            </a:r>
          </a:p>
        </p:txBody>
      </p:sp>
      <p:pic>
        <p:nvPicPr>
          <p:cNvPr id="16" name="Logo" descr="preencode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8412480" y="45262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35508"/>
          </a:solidFill>
          <a:ln w="12700">
            <a:solidFill>
              <a:srgbClr val="B3550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400" b="1" dirty="0">
                <a:solidFill>
                  <a:srgbClr val="FFFFFF"/>
                </a:solidFill>
                <a:latin typeface="Arial Black" pitchFamily="34" charset="0"/>
              </a:rPr>
              <a:t>Objetivos del Proyecto</a:t>
            </a:r>
          </a:p>
        </p:txBody>
      </p:sp>
      <p:sp>
        <p:nvSpPr>
          <p:cNvPr id="4" name="ObjGen bg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solidFill>
            <a:srgbClr val="B35508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ObjGen text"/>
          <p:cNvSpPr/>
          <p:nvPr/>
        </p:nvSpPr>
        <p:spPr>
          <a:xfrm>
            <a:off x="502920" y="105156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300" b="1" dirty="0">
                <a:solidFill>
                  <a:srgbClr val="FFFFFF"/>
                </a:solidFill>
                <a:latin typeface="Arial" pitchFamily="34" charset="0"/>
              </a:rPr>
              <a:t>🎯 Objetivo General</a:t>
            </a:r>
          </a:p>
          <a:p>
            <a:pPr marL="0" indent="0">
              <a:buNone/>
            </a:pPr>
            <a:r>
              <a:rPr lang="es-CL" sz="1200" dirty="0">
                <a:solidFill>
                  <a:srgbClr val="FFE0B0"/>
                </a:solidFill>
                <a:latin typeface="Arial" pitchFamily="34" charset="0"/>
              </a:rPr>
              <a:t>Desarrollar una plataforma web que centralice la planificación de asados, integrando catálogo real de productos, comparación de precios y recomendaciones con inteligencia artificial.</a:t>
            </a:r>
          </a:p>
        </p:txBody>
      </p:sp>
      <p:sp>
        <p:nvSpPr>
          <p:cNvPr id="6" name="EspTitle"/>
          <p:cNvSpPr/>
          <p:nvPr/>
        </p:nvSpPr>
        <p:spPr>
          <a:xfrm>
            <a:off x="365760" y="1920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400" b="1" dirty="0">
                <a:solidFill>
                  <a:srgbClr val="E46C0A"/>
                </a:solidFill>
                <a:latin typeface="Arial" pitchFamily="34" charset="0"/>
              </a:rPr>
              <a:t>Objetivos Específicos</a:t>
            </a:r>
          </a:p>
        </p:txBody>
      </p:sp>
      <p:sp>
        <p:nvSpPr>
          <p:cNvPr id="7" name="Obj1 bg"/>
          <p:cNvSpPr/>
          <p:nvPr/>
        </p:nvSpPr>
        <p:spPr>
          <a:xfrm>
            <a:off x="365760" y="2240280"/>
            <a:ext cx="1920240" cy="2697840"/>
          </a:xfrm>
          <a:prstGeom prst="rect">
            <a:avLst/>
          </a:prstGeom>
          <a:solidFill>
            <a:srgbClr val="2C2C2C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Obj1 num"/>
          <p:cNvSpPr/>
          <p:nvPr/>
        </p:nvSpPr>
        <p:spPr>
          <a:xfrm>
            <a:off x="365760" y="2240280"/>
            <a:ext cx="1920240" cy="54864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Obj1 numtxt"/>
          <p:cNvSpPr/>
          <p:nvPr/>
        </p:nvSpPr>
        <p:spPr>
          <a:xfrm>
            <a:off x="365760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3600" b="1" dirty="0">
                <a:solidFill>
                  <a:srgbClr val="FFFFFF"/>
                </a:solidFill>
                <a:latin typeface="Arial Black" pitchFamily="34" charset="0"/>
              </a:rPr>
              <a:t>01</a:t>
            </a:r>
          </a:p>
        </p:txBody>
      </p:sp>
      <p:sp>
        <p:nvSpPr>
          <p:cNvPr id="10" name="Obj1 txt"/>
          <p:cNvSpPr/>
          <p:nvPr/>
        </p:nvSpPr>
        <p:spPr>
          <a:xfrm>
            <a:off x="457200" y="2834640"/>
            <a:ext cx="17373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100" b="1" dirty="0">
                <a:solidFill>
                  <a:srgbClr val="FFFFFF"/>
                </a:solidFill>
                <a:latin typeface="Arial" pitchFamily="34" charset="0"/>
              </a:rPr>
              <a:t>Catálogo Real de Productos</a:t>
            </a:r>
          </a:p>
          <a:p>
            <a:pPr marL="0" indent="0">
              <a:buNone/>
            </a:pPr>
            <a:r>
              <a:rPr lang="es-CL" sz="1000" dirty="0">
                <a:solidFill>
                  <a:srgbClr val="AAAAAA"/>
                </a:solidFill>
                <a:latin typeface="Arial" pitchFamily="34" charset="0"/>
              </a:rPr>
              <a:t>Implementar scraping de Lider, Tottus y Jumbo con actualización periódica de precios</a:t>
            </a:r>
          </a:p>
        </p:txBody>
      </p:sp>
      <p:sp>
        <p:nvSpPr>
          <p:cNvPr id="11" name="Obj2 bg"/>
          <p:cNvSpPr/>
          <p:nvPr/>
        </p:nvSpPr>
        <p:spPr>
          <a:xfrm>
            <a:off x="2377440" y="2240280"/>
            <a:ext cx="1920240" cy="2697840"/>
          </a:xfrm>
          <a:prstGeom prst="rect">
            <a:avLst/>
          </a:prstGeom>
          <a:solidFill>
            <a:srgbClr val="2C2C2C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Obj2 num"/>
          <p:cNvSpPr/>
          <p:nvPr/>
        </p:nvSpPr>
        <p:spPr>
          <a:xfrm>
            <a:off x="2377440" y="2240280"/>
            <a:ext cx="1920240" cy="54864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Obj2 numtxt"/>
          <p:cNvSpPr/>
          <p:nvPr/>
        </p:nvSpPr>
        <p:spPr>
          <a:xfrm>
            <a:off x="2377440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3600" b="1" dirty="0">
                <a:solidFill>
                  <a:srgbClr val="FFFFFF"/>
                </a:solidFill>
                <a:latin typeface="Arial Black" pitchFamily="34" charset="0"/>
              </a:rPr>
              <a:t>02</a:t>
            </a:r>
          </a:p>
        </p:txBody>
      </p:sp>
      <p:sp>
        <p:nvSpPr>
          <p:cNvPr id="14" name="Obj2 txt"/>
          <p:cNvSpPr/>
          <p:nvPr/>
        </p:nvSpPr>
        <p:spPr>
          <a:xfrm>
            <a:off x="2468880" y="2834640"/>
            <a:ext cx="17373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100" b="1" dirty="0">
                <a:solidFill>
                  <a:srgbClr val="FFFFFF"/>
                </a:solidFill>
                <a:latin typeface="Arial" pitchFamily="34" charset="0"/>
              </a:rPr>
              <a:t>Planificación Inteligente</a:t>
            </a:r>
          </a:p>
          <a:p>
            <a:pPr marL="0" indent="0">
              <a:buNone/>
            </a:pPr>
            <a:r>
              <a:rPr lang="es-CL" sz="1000" dirty="0">
                <a:solidFill>
                  <a:srgbClr val="AAAAAA"/>
                </a:solidFill>
                <a:latin typeface="Arial" pitchFamily="34" charset="0"/>
              </a:rPr>
              <a:t>Cálculo automático de cantidades, división de gastos y gestión de participantes</a:t>
            </a:r>
          </a:p>
        </p:txBody>
      </p:sp>
      <p:sp>
        <p:nvSpPr>
          <p:cNvPr id="15" name="Obj3 bg"/>
          <p:cNvSpPr/>
          <p:nvPr/>
        </p:nvSpPr>
        <p:spPr>
          <a:xfrm>
            <a:off x="4389120" y="2240280"/>
            <a:ext cx="1920240" cy="2697840"/>
          </a:xfrm>
          <a:prstGeom prst="rect">
            <a:avLst/>
          </a:prstGeom>
          <a:solidFill>
            <a:srgbClr val="2C2C2C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Obj3 num"/>
          <p:cNvSpPr/>
          <p:nvPr/>
        </p:nvSpPr>
        <p:spPr>
          <a:xfrm>
            <a:off x="4389120" y="2240280"/>
            <a:ext cx="1920240" cy="54864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Obj3 numtxt"/>
          <p:cNvSpPr/>
          <p:nvPr/>
        </p:nvSpPr>
        <p:spPr>
          <a:xfrm>
            <a:off x="4389120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3600" b="1" dirty="0">
                <a:solidFill>
                  <a:srgbClr val="FFFFFF"/>
                </a:solidFill>
                <a:latin typeface="Arial Black" pitchFamily="34" charset="0"/>
              </a:rPr>
              <a:t>03</a:t>
            </a:r>
          </a:p>
        </p:txBody>
      </p:sp>
      <p:sp>
        <p:nvSpPr>
          <p:cNvPr id="18" name="Obj3 txt"/>
          <p:cNvSpPr/>
          <p:nvPr/>
        </p:nvSpPr>
        <p:spPr>
          <a:xfrm>
            <a:off x="4480560" y="2834640"/>
            <a:ext cx="17373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100" b="1" dirty="0">
                <a:solidFill>
                  <a:srgbClr val="FFFFFF"/>
                </a:solidFill>
                <a:latin typeface="Arial" pitchFamily="34" charset="0"/>
              </a:rPr>
              <a:t>Integración con IA</a:t>
            </a:r>
          </a:p>
          <a:p>
            <a:pPr marL="0" indent="0">
              <a:buNone/>
            </a:pPr>
            <a:r>
              <a:rPr lang="es-CL" sz="1000" dirty="0">
                <a:solidFill>
                  <a:srgbClr val="AAAAAA"/>
                </a:solidFill>
                <a:latin typeface="Arial" pitchFamily="34" charset="0"/>
              </a:rPr>
              <a:t>Sugerencias personalizadas y cotización entre comercios usando Claude Haiku</a:t>
            </a:r>
          </a:p>
        </p:txBody>
      </p:sp>
      <p:sp>
        <p:nvSpPr>
          <p:cNvPr id="19" name="Obj4 bg"/>
          <p:cNvSpPr/>
          <p:nvPr/>
        </p:nvSpPr>
        <p:spPr>
          <a:xfrm>
            <a:off x="6400800" y="2240280"/>
            <a:ext cx="2011680" cy="2697840"/>
          </a:xfrm>
          <a:prstGeom prst="rect">
            <a:avLst/>
          </a:prstGeom>
          <a:solidFill>
            <a:srgbClr val="2C2C2C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Obj4 num"/>
          <p:cNvSpPr/>
          <p:nvPr/>
        </p:nvSpPr>
        <p:spPr>
          <a:xfrm>
            <a:off x="6400800" y="2240280"/>
            <a:ext cx="2011680" cy="54864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Obj4 numtxt"/>
          <p:cNvSpPr/>
          <p:nvPr/>
        </p:nvSpPr>
        <p:spPr>
          <a:xfrm>
            <a:off x="6400800" y="2240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3600" b="1" dirty="0">
                <a:solidFill>
                  <a:srgbClr val="FFFFFF"/>
                </a:solidFill>
                <a:latin typeface="Arial Black" pitchFamily="34" charset="0"/>
              </a:rPr>
              <a:t>04</a:t>
            </a:r>
          </a:p>
        </p:txBody>
      </p:sp>
      <p:sp>
        <p:nvSpPr>
          <p:cNvPr id="22" name="Obj4 txt"/>
          <p:cNvSpPr/>
          <p:nvPr/>
        </p:nvSpPr>
        <p:spPr>
          <a:xfrm>
            <a:off x="6492240" y="2834640"/>
            <a:ext cx="18288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CL" sz="1100" b="1" dirty="0">
                <a:solidFill>
                  <a:srgbClr val="FFFFFF"/>
                </a:solidFill>
                <a:latin typeface="Arial" pitchFamily="34" charset="0"/>
              </a:rPr>
              <a:t>Notificaciones y Comunicación</a:t>
            </a:r>
          </a:p>
          <a:p>
            <a:pPr marL="0" indent="0">
              <a:buNone/>
            </a:pPr>
            <a:r>
              <a:rPr lang="es-CL" sz="1000" dirty="0">
                <a:solidFill>
                  <a:srgbClr val="AAAAAA"/>
                </a:solidFill>
                <a:latin typeface="Arial" pitchFamily="34" charset="0"/>
              </a:rPr>
              <a:t>Envío de confirmaciones y recordatorios por Email y WhatsApp</a:t>
            </a:r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8412480" y="45262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35508"/>
          </a:solidFill>
          <a:ln w="12700">
            <a:solidFill>
              <a:srgbClr val="B3550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 del Proyecto</a:t>
            </a:r>
            <a:endParaRPr lang="en-US" sz="2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F34ADE8-87F3-1B12-8DFF-8F1058B3F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893" y="914400"/>
            <a:ext cx="7191984" cy="41868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35508"/>
          </a:solidFill>
          <a:ln w="12700">
            <a:solidFill>
              <a:srgbClr val="B3550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y Stack Tecnológico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3017520"/>
          </a:xfrm>
          <a:prstGeom prst="rect">
            <a:avLst/>
          </a:prstGeom>
          <a:solidFill>
            <a:srgbClr val="222222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38404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2011680" cy="3017520"/>
          </a:xfrm>
          <a:prstGeom prst="rect">
            <a:avLst/>
          </a:prstGeom>
          <a:solidFill>
            <a:srgbClr val="222222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2011680" cy="38404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2468880" y="1005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146304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3.3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17 + JPA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2011680" cy="3017520"/>
          </a:xfrm>
          <a:prstGeom prst="rect">
            <a:avLst/>
          </a:prstGeom>
          <a:solidFill>
            <a:srgbClr val="222222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2011680" cy="38404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663440" y="1005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Scraper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46304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24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Lider·Tottus·Jumbo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1005840"/>
            <a:ext cx="2011680" cy="3017520"/>
          </a:xfrm>
          <a:prstGeom prst="rect">
            <a:avLst/>
          </a:prstGeom>
          <a:solidFill>
            <a:srgbClr val="222222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6858000" y="1005840"/>
            <a:ext cx="2011680" cy="38404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6858000" y="1005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BD / Auth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0" y="1463040"/>
            <a:ext cx="1828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Auth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160520"/>
            <a:ext cx="8595360" cy="36576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274320" y="41605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externos:  Anthropic API (claude-haiku-4-5)  ·  Gmail SMTP  ·  Meta WhatsApp API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45720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Diagramas de componentes y despliegue disponibles en repositorio GitHub</a:t>
            </a:r>
            <a:endParaRPr lang="en-US" sz="10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8412480" y="45262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gramas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46C0A"/>
          </a:solidFill>
        </p:spPr>
        <p:txBody>
          <a:bodyPr/>
          <a:lstStyle/>
          <a:p>
            <a:endParaRPr lang="es-CL"/>
          </a:p>
        </p:txBody>
      </p:sp>
      <p:sp>
        <p:nvSpPr>
          <p:cNvPr id="3" name="Title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200" b="1" dirty="0">
                <a:solidFill>
                  <a:srgbClr val="FFFFFF"/>
                </a:solidFill>
                <a:latin typeface="Arial Black" pitchFamily="34" charset="0"/>
              </a:rPr>
              <a:t>Diagramas de Arquitectura · Componentes · Despliegue</a:t>
            </a:r>
          </a:p>
        </p:txBody>
      </p:sp>
      <p:pic>
        <p:nvPicPr>
          <p:cNvPr id="4" name="DiagArq" descr="diagrama_arquitectur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2960"/>
            <a:ext cx="2926080" cy="4343400"/>
          </a:xfrm>
          <a:prstGeom prst="rect">
            <a:avLst/>
          </a:prstGeom>
        </p:spPr>
      </p:pic>
      <p:sp>
        <p:nvSpPr>
          <p:cNvPr id="5" name="LabelArq"/>
          <p:cNvSpPr/>
          <p:nvPr/>
        </p:nvSpPr>
        <p:spPr>
          <a:xfrm>
            <a:off x="182880" y="52120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000" b="1" dirty="0">
                <a:solidFill>
                  <a:srgbClr val="E46C0A"/>
                </a:solidFill>
                <a:latin typeface="Arial" pitchFamily="34" charset="0"/>
              </a:rPr>
              <a:t>Arquitectura</a:t>
            </a:r>
          </a:p>
        </p:txBody>
      </p:sp>
      <p:pic>
        <p:nvPicPr>
          <p:cNvPr id="6" name="DiagComp" descr="diagrama_component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822960"/>
            <a:ext cx="2743200" cy="4343400"/>
          </a:xfrm>
          <a:prstGeom prst="rect">
            <a:avLst/>
          </a:prstGeom>
        </p:spPr>
      </p:pic>
      <p:sp>
        <p:nvSpPr>
          <p:cNvPr id="7" name="LabelComp"/>
          <p:cNvSpPr/>
          <p:nvPr/>
        </p:nvSpPr>
        <p:spPr>
          <a:xfrm>
            <a:off x="3200400" y="5212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000" b="1" dirty="0">
                <a:solidFill>
                  <a:srgbClr val="E46C0A"/>
                </a:solidFill>
                <a:latin typeface="Arial" pitchFamily="34" charset="0"/>
              </a:rPr>
              <a:t>Componentes</a:t>
            </a:r>
          </a:p>
        </p:txBody>
      </p:sp>
      <p:pic>
        <p:nvPicPr>
          <p:cNvPr id="8" name="DiagDesp" descr="diagrama_despliegu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280" y="822960"/>
            <a:ext cx="2926080" cy="4343400"/>
          </a:xfrm>
          <a:prstGeom prst="rect">
            <a:avLst/>
          </a:prstGeom>
        </p:spPr>
      </p:pic>
      <p:sp>
        <p:nvSpPr>
          <p:cNvPr id="9" name="LabelDesp"/>
          <p:cNvSpPr/>
          <p:nvPr/>
        </p:nvSpPr>
        <p:spPr>
          <a:xfrm>
            <a:off x="6035280" y="52120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000" b="1" dirty="0">
                <a:solidFill>
                  <a:srgbClr val="E46C0A"/>
                </a:solidFill>
                <a:latin typeface="Arial" pitchFamily="34" charset="0"/>
              </a:rPr>
              <a:t>Despliegue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rafica Pruebas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A1A"/>
          </a:solidFill>
        </p:spPr>
        <p:txBody>
          <a:bodyPr/>
          <a:lstStyle/>
          <a:p>
            <a:endParaRPr lang="es-CL"/>
          </a:p>
        </p:txBody>
      </p:sp>
      <p:sp>
        <p:nvSpPr>
          <p:cNvPr id="3" name="Title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2200" b="1" dirty="0">
                <a:solidFill>
                  <a:srgbClr val="FFFFFF"/>
                </a:solidFill>
                <a:latin typeface="Arial Black" pitchFamily="34" charset="0"/>
              </a:rPr>
              <a:t>Resultados de Pruebas Ejecutadas</a:t>
            </a:r>
          </a:p>
        </p:txBody>
      </p:sp>
      <p:sp>
        <p:nvSpPr>
          <p:cNvPr id="10" name="BarBg1"/>
          <p:cNvSpPr/>
          <p:nvPr/>
        </p:nvSpPr>
        <p:spPr>
          <a:xfrm>
            <a:off x="2400000" y="1100000"/>
            <a:ext cx="5500000" cy="400000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endParaRPr lang="es-CL"/>
          </a:p>
        </p:txBody>
      </p:sp>
      <p:sp>
        <p:nvSpPr>
          <p:cNvPr id="11" name="BarFill1"/>
          <p:cNvSpPr/>
          <p:nvPr/>
        </p:nvSpPr>
        <p:spPr>
          <a:xfrm>
            <a:off x="2400000" y="1100000"/>
            <a:ext cx="4840000" cy="400000"/>
          </a:xfrm>
          <a:prstGeom prst="rect">
            <a:avLst/>
          </a:prstGeom>
          <a:solidFill>
            <a:srgbClr val="2ECC71"/>
          </a:solidFill>
        </p:spPr>
        <p:txBody>
          <a:bodyPr/>
          <a:lstStyle/>
          <a:p>
            <a:endParaRPr lang="es-CL"/>
          </a:p>
        </p:txBody>
      </p:sp>
      <p:sp>
        <p:nvSpPr>
          <p:cNvPr id="12" name="LabelPass"/>
          <p:cNvSpPr/>
          <p:nvPr/>
        </p:nvSpPr>
        <p:spPr>
          <a:xfrm>
            <a:off x="365760" y="1050000"/>
            <a:ext cx="19000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1300" b="1" dirty="0">
                <a:solidFill>
                  <a:srgbClr val="1A1A1A"/>
                </a:solidFill>
                <a:latin typeface="Arial" pitchFamily="34" charset="0"/>
              </a:rPr>
              <a:t>✅ PASS</a:t>
            </a:r>
          </a:p>
        </p:txBody>
      </p:sp>
      <p:sp>
        <p:nvSpPr>
          <p:cNvPr id="13" name="PctPass"/>
          <p:cNvSpPr/>
          <p:nvPr/>
        </p:nvSpPr>
        <p:spPr>
          <a:xfrm>
            <a:off x="8000000" y="1050000"/>
            <a:ext cx="9000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300" b="1" dirty="0">
                <a:solidFill>
                  <a:srgbClr val="2ECC71"/>
                </a:solidFill>
                <a:latin typeface="Arial" pitchFamily="34" charset="0"/>
              </a:rPr>
              <a:t>88%</a:t>
            </a:r>
          </a:p>
        </p:txBody>
      </p:sp>
      <p:sp>
        <p:nvSpPr>
          <p:cNvPr id="20" name="BarBg2"/>
          <p:cNvSpPr/>
          <p:nvPr/>
        </p:nvSpPr>
        <p:spPr>
          <a:xfrm>
            <a:off x="2400000" y="1700000"/>
            <a:ext cx="5500000" cy="400000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endParaRPr lang="es-CL"/>
          </a:p>
        </p:txBody>
      </p:sp>
      <p:sp>
        <p:nvSpPr>
          <p:cNvPr id="21" name="BarFill2"/>
          <p:cNvSpPr/>
          <p:nvPr/>
        </p:nvSpPr>
        <p:spPr>
          <a:xfrm>
            <a:off x="2400000" y="1700000"/>
            <a:ext cx="660000" cy="400000"/>
          </a:xfrm>
          <a:prstGeom prst="rect">
            <a:avLst/>
          </a:prstGeom>
          <a:solidFill>
            <a:srgbClr val="F39C12"/>
          </a:solidFill>
        </p:spPr>
        <p:txBody>
          <a:bodyPr/>
          <a:lstStyle/>
          <a:p>
            <a:endParaRPr lang="es-CL"/>
          </a:p>
        </p:txBody>
      </p:sp>
      <p:sp>
        <p:nvSpPr>
          <p:cNvPr id="22" name="LabelParcial"/>
          <p:cNvSpPr/>
          <p:nvPr/>
        </p:nvSpPr>
        <p:spPr>
          <a:xfrm>
            <a:off x="365760" y="1650000"/>
            <a:ext cx="19000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L" sz="1300" b="1" dirty="0">
                <a:solidFill>
                  <a:srgbClr val="1A1A1A"/>
                </a:solidFill>
                <a:latin typeface="Arial" pitchFamily="34" charset="0"/>
              </a:rPr>
              <a:t>⚠️ Parcial</a:t>
            </a:r>
          </a:p>
        </p:txBody>
      </p:sp>
      <p:sp>
        <p:nvSpPr>
          <p:cNvPr id="23" name="PctParcial"/>
          <p:cNvSpPr/>
          <p:nvPr/>
        </p:nvSpPr>
        <p:spPr>
          <a:xfrm>
            <a:off x="8000000" y="1650000"/>
            <a:ext cx="90000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L" sz="1300" b="1" dirty="0">
                <a:solidFill>
                  <a:srgbClr val="F39C12"/>
                </a:solidFill>
                <a:latin typeface="Arial" pitchFamily="34" charset="0"/>
              </a:rPr>
              <a:t>12%</a:t>
            </a:r>
          </a:p>
        </p:txBody>
      </p:sp>
      <p:sp>
        <p:nvSpPr>
          <p:cNvPr id="30" name="Card1"/>
          <p:cNvSpPr/>
          <p:nvPr/>
        </p:nvSpPr>
        <p:spPr>
          <a:xfrm>
            <a:off x="365760" y="2400000"/>
            <a:ext cx="260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1" name="Card1Text"/>
          <p:cNvSpPr/>
          <p:nvPr/>
        </p:nvSpPr>
        <p:spPr>
          <a:xfrm>
            <a:off x="365760" y="2400000"/>
            <a:ext cx="2600000" cy="1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4400" b="1" dirty="0">
                <a:solidFill>
                  <a:srgbClr val="E46C0A"/>
                </a:solidFill>
                <a:latin typeface="Arial Black" pitchFamily="34" charset="0"/>
              </a:rPr>
              <a:t>51</a:t>
            </a:r>
          </a:p>
          <a:p>
            <a:pPr marL="0" indent="0" algn="ctr">
              <a:buNone/>
            </a:pPr>
            <a:r>
              <a:rPr lang="es-CL" sz="1100" dirty="0">
                <a:solidFill>
                  <a:srgbClr val="888888"/>
                </a:solidFill>
                <a:latin typeface="Arial" pitchFamily="34" charset="0"/>
              </a:rPr>
              <a:t>Casos totales</a:t>
            </a:r>
          </a:p>
        </p:txBody>
      </p:sp>
      <p:sp>
        <p:nvSpPr>
          <p:cNvPr id="32" name="Card2"/>
          <p:cNvSpPr/>
          <p:nvPr/>
        </p:nvSpPr>
        <p:spPr>
          <a:xfrm>
            <a:off x="3272760" y="2400000"/>
            <a:ext cx="260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3" name="Card2Text"/>
          <p:cNvSpPr/>
          <p:nvPr/>
        </p:nvSpPr>
        <p:spPr>
          <a:xfrm>
            <a:off x="3272760" y="2400000"/>
            <a:ext cx="2600000" cy="1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4400" b="1" dirty="0">
                <a:solidFill>
                  <a:srgbClr val="2ECC71"/>
                </a:solidFill>
                <a:latin typeface="Arial Black" pitchFamily="34" charset="0"/>
              </a:rPr>
              <a:t>9</a:t>
            </a:r>
          </a:p>
          <a:p>
            <a:pPr marL="0" indent="0" algn="ctr">
              <a:buNone/>
            </a:pPr>
            <a:r>
              <a:rPr lang="es-CL" sz="1100" dirty="0">
                <a:solidFill>
                  <a:srgbClr val="888888"/>
                </a:solidFill>
                <a:latin typeface="Arial" pitchFamily="34" charset="0"/>
              </a:rPr>
              <a:t>Ciclos PASS</a:t>
            </a:r>
          </a:p>
        </p:txBody>
      </p:sp>
      <p:sp>
        <p:nvSpPr>
          <p:cNvPr id="34" name="Card3"/>
          <p:cNvSpPr/>
          <p:nvPr/>
        </p:nvSpPr>
        <p:spPr>
          <a:xfrm>
            <a:off x="6179760" y="2400000"/>
            <a:ext cx="2600000" cy="1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35" name="Card3Text"/>
          <p:cNvSpPr/>
          <p:nvPr/>
        </p:nvSpPr>
        <p:spPr>
          <a:xfrm>
            <a:off x="6179760" y="2400000"/>
            <a:ext cx="2600000" cy="1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4400" b="1" dirty="0">
                <a:solidFill>
                  <a:srgbClr val="F39C12"/>
                </a:solidFill>
                <a:latin typeface="Arial Black" pitchFamily="34" charset="0"/>
              </a:rPr>
              <a:t>1</a:t>
            </a:r>
          </a:p>
          <a:p>
            <a:pPr marL="0" indent="0" algn="ctr">
              <a:buNone/>
            </a:pPr>
            <a:r>
              <a:rPr lang="es-CL" sz="1100" dirty="0">
                <a:solidFill>
                  <a:srgbClr val="888888"/>
                </a:solidFill>
                <a:latin typeface="Arial" pitchFamily="34" charset="0"/>
              </a:rPr>
              <a:t>Ciclo Parcial</a:t>
            </a:r>
          </a:p>
        </p:txBody>
      </p:sp>
      <p:sp>
        <p:nvSpPr>
          <p:cNvPr id="40" name="NotaIA"/>
          <p:cNvSpPr/>
          <p:nvPr/>
        </p:nvSpPr>
        <p:spPr>
          <a:xfrm>
            <a:off x="365760" y="4000000"/>
            <a:ext cx="8412480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000" i="1" dirty="0">
                <a:solidFill>
                  <a:srgbClr val="888888"/>
                </a:solidFill>
                <a:latin typeface="Arial" pitchFamily="34" charset="0"/>
              </a:rPr>
              <a:t>⚠️ Ciclo parcial: Sugerencias IA y cotizacion — dependiente de API key Anthropic activa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46C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Resultados de Pruebas Ejecutadas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05840"/>
          <a:ext cx="4206240" cy="391807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Ciclo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Módulo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Casos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Autenticación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Catálogo de productos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Verificación de edad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Maestro asador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Evento y cotización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Perfil y navegación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Notificaciones y PDF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End-to-End completo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Filtros por tipo (Sprint III)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</a:rPr>
                        <a:t>✅ PASS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9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Sugerencias IA y cotización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7000"/>
                          </a:solidFill>
                        </a:rPr>
                        <a:t>⚠️ Parcial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8412480" y="4526280"/>
            <a:ext cx="548640" cy="548640"/>
          </a:xfrm>
          <a:prstGeom prst="rect">
            <a:avLst/>
          </a:prstGeom>
        </p:spPr>
      </p:pic>
      <p:pic>
        <p:nvPicPr>
          <p:cNvPr id="50" name="GraficoPruebas" descr="grafico_prueb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000000"/>
            <a:ext cx="2800000" cy="28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Módulo de Inteligencia Artificial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6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 Sugerencias IA en tiempo real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Modelo: claude-haiku-4-5 (Anthropic)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Analiza productos seleccionados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Verifica porciones (300-400g/persona)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Detecta categorías faltantes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Evalúa coherencia de presupuesto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Contexto asado chileno en español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Enriquecimiento: </a:t>
            </a:r>
            <a:r>
              <a:rPr lang="en-US" sz="1200" i="1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</a:t>
            </a:r>
            <a:r>
              <a:rPr lang="en-US" sz="12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calorías reales via 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9319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937760" y="1005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6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Cotización IA entre 3 comercios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55448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Scraping real de precios: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Lider  •  Tottus  •  Jumbo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analiza y recomienda: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Dónde comprar cada categoría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 conviene dividir la compra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Ahorro estimado por comercio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200" i="1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</a:t>
            </a:r>
            <a:r>
              <a:rPr lang="en-US" sz="12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</a:t>
            </a:r>
            <a:r>
              <a:rPr lang="en-US" sz="1200" i="1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precio</a:t>
            </a:r>
            <a:r>
              <a:rPr lang="en-US" sz="12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vigente</a:t>
            </a:r>
            <a:r>
              <a:rPr lang="en-US" sz="12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2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BD</a:t>
            </a:r>
            <a:endParaRPr lang="en-US" sz="12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8412480" y="45262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Demo: Catálogo de Productos Real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5669280" cy="32004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822960"/>
            <a:ext cx="2926080" cy="777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35040" y="160020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46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Proteínas + subfiltros</a:t>
            </a:r>
            <a:endParaRPr lang="en-US" sz="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874520"/>
            <a:ext cx="2926080" cy="7772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35040" y="265176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46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Bebestibles + subfiltros</a:t>
            </a:r>
            <a:endParaRPr lang="en-US" sz="9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2926080"/>
            <a:ext cx="1417320" cy="731520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0" y="2926080"/>
            <a:ext cx="1417320" cy="73152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035040" y="365760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46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Ensaladas · Insumos</a:t>
            </a:r>
            <a:endParaRPr lang="en-US" sz="9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3931920"/>
            <a:ext cx="5669280" cy="109728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274320" y="5029200"/>
            <a:ext cx="5669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lateral con total estimado</a:t>
            </a:r>
            <a:endParaRPr lang="en-US" sz="9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>
            <a:off x="8412480" y="45262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Demo: Autenticación y Home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222" y="780569"/>
            <a:ext cx="2553186" cy="19574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57208" y="2805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46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144" y="3246120"/>
            <a:ext cx="6819089" cy="15855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— funcionalidades del sistema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8412480" y="45262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Demo: Wizard — Maestro Asador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420624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38328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46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 — Selección servicio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822960"/>
            <a:ext cx="4206240" cy="2560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440" y="338328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46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maestros con calificaciones y tarifas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703320"/>
            <a:ext cx="4206240" cy="13258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74320" y="4797357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maestro — resumen + calorías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703320"/>
            <a:ext cx="4206240" cy="9144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663440" y="461772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· Calorías totales · Por persona</a:t>
            </a:r>
            <a:endParaRPr lang="en-US" sz="9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8412480" y="45262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Demo: Configuración, Reparto y Confirmación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59"/>
            <a:ext cx="3810002" cy="22860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2918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46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del asado — personas, tipo, presupuesto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822960"/>
            <a:ext cx="4297680" cy="2468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0" y="329184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46C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— nombre, fecha, participantes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160" y="3547872"/>
            <a:ext cx="4114800" cy="1371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423160" y="4941846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Reparto automático de costos</a:t>
            </a:r>
            <a:endParaRPr lang="en-US" sz="9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>
            <a:off x="8412480" y="45262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B35508"/>
          </a:solidFill>
          <a:ln w="12700">
            <a:solidFill>
              <a:srgbClr val="B3550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1565" y="251460"/>
            <a:ext cx="3394305" cy="339430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0" y="3749040"/>
            <a:ext cx="4572000" cy="36576"/>
          </a:xfrm>
          <a:prstGeom prst="rect">
            <a:avLst/>
          </a:prstGeom>
          <a:solidFill>
            <a:srgbClr val="E46C0A"/>
          </a:solidFill>
          <a:ln w="12700">
            <a:solidFill>
              <a:srgbClr val="E46C0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457200" y="37947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github.com/Rampuero44/Proyecto_Titulo_Basados_Meneses_Sanchez_Ampuero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Luis Sánchez  ·  Joaquín Meneses  ·  Rodrigo Ampuero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Duoc UC – Taller Aplicado de Programación – Mayo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783</Words>
  <Application>Microsoft Office PowerPoint</Application>
  <PresentationFormat>Presentación en pantalla (16:9)</PresentationFormat>
  <Paragraphs>215</Paragraphs>
  <Slides>17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Arial Black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BASADOS – Evaluación Parcial 2</dc:title>
  <dc:subject>PptxGenJS Presentation</dc:subject>
  <dc:creator>PptxGenJS</dc:creator>
  <cp:lastModifiedBy>Rodrigo Ampuero</cp:lastModifiedBy>
  <cp:revision>3</cp:revision>
  <dcterms:created xsi:type="dcterms:W3CDTF">2026-05-29T04:10:39Z</dcterms:created>
  <dcterms:modified xsi:type="dcterms:W3CDTF">2026-05-30T01:21:34Z</dcterms:modified>
</cp:coreProperties>
</file>