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gkD9bFSs8we9DZ03gzMBzP/bJG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4DF20A-7393-4CA6-8242-8D13F135253F}">
  <a:tblStyle styleId="{934DF20A-7393-4CA6-8242-8D13F135253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V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685800" y="2130425"/>
            <a:ext cx="7772400" cy="1730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VE"/>
              <a:t>Hoja de ruta del producto </a:t>
            </a:r>
            <a:br>
              <a:rPr b="1" lang="es-VE"/>
            </a:br>
            <a:r>
              <a:rPr b="1" lang="es-VE"/>
              <a:t>(Agile Roadmap)</a:t>
            </a:r>
            <a:r>
              <a:rPr b="1" lang="es-VE" sz="2400">
                <a:solidFill>
                  <a:srgbClr val="00B050"/>
                </a:solidFill>
              </a:rPr>
              <a:t> </a:t>
            </a:r>
            <a:br>
              <a:rPr b="1" lang="es-VE" sz="2400">
                <a:solidFill>
                  <a:srgbClr val="00B050"/>
                </a:solidFill>
              </a:rPr>
            </a:br>
            <a:r>
              <a:rPr b="1" lang="es-VE" sz="2400">
                <a:solidFill>
                  <a:srgbClr val="00B050"/>
                </a:solidFill>
              </a:rPr>
              <a:t>[BASADOS</a:t>
            </a:r>
            <a:r>
              <a:rPr b="1" lang="es-VE" sz="2400">
                <a:solidFill>
                  <a:srgbClr val="00B050"/>
                </a:solidFill>
              </a:rPr>
              <a:t>]</a:t>
            </a:r>
            <a:endParaRPr b="1"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513638" y="4229405"/>
            <a:ext cx="6116724" cy="213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es-VE" sz="2800"/>
              <a:t>Período: </a:t>
            </a:r>
            <a:r>
              <a:rPr b="1" lang="es-VE" sz="2800">
                <a:solidFill>
                  <a:srgbClr val="00B050"/>
                </a:solidFill>
              </a:rPr>
              <a:t>03/2026 al 06/2026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Organización: </a:t>
            </a:r>
            <a:r>
              <a:rPr b="1" lang="es-VE" sz="2800">
                <a:solidFill>
                  <a:srgbClr val="00B050"/>
                </a:solidFill>
              </a:rPr>
              <a:t>Meneses-Sanchez-Ampuero </a:t>
            </a:r>
            <a:endParaRPr b="1" sz="2800"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Cliente: 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Dueño del producto (Owner): </a:t>
            </a:r>
            <a:r>
              <a:rPr b="1" lang="es-VE" sz="2800">
                <a:solidFill>
                  <a:srgbClr val="00B050"/>
                </a:solidFill>
              </a:rPr>
              <a:t>[Nombre y apellido]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es-VE" sz="2800"/>
              <a:t>Scrum Master: </a:t>
            </a:r>
            <a:r>
              <a:rPr b="1" lang="es-VE" sz="2800">
                <a:solidFill>
                  <a:srgbClr val="00B050"/>
                </a:solidFill>
              </a:rPr>
              <a:t>[Nombre y apellido]</a:t>
            </a:r>
            <a:endParaRPr b="1" sz="2800"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t/>
            </a:r>
            <a:endParaRPr b="1" sz="2800">
              <a:solidFill>
                <a:srgbClr val="00B050"/>
              </a:solidFill>
            </a:endParaRPr>
          </a:p>
        </p:txBody>
      </p:sp>
      <p:sp>
        <p:nvSpPr>
          <p:cNvPr id="102" name="Google Shape;102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graphicFrame>
        <p:nvGraphicFramePr>
          <p:cNvPr id="108" name="Google Shape;108;p2"/>
          <p:cNvGraphicFramePr/>
          <p:nvPr/>
        </p:nvGraphicFramePr>
        <p:xfrm>
          <a:off x="251520" y="1484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{934DF20A-7393-4CA6-8242-8D13F135253F}</a:tableStyleId>
              </a:tblPr>
              <a:tblGrid>
                <a:gridCol w="2520275"/>
                <a:gridCol w="1512175"/>
                <a:gridCol w="1584175"/>
                <a:gridCol w="1512175"/>
                <a:gridCol w="1512175"/>
              </a:tblGrid>
              <a:tr h="14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BASADOS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1er. Mes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2do. Mes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cap="none" strike="noStrike"/>
                        <a:t>3er. </a:t>
                      </a:r>
                      <a:r>
                        <a:rPr lang="es-VE" sz="1800"/>
                        <a:t>Mes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cap="none" strike="noStrike"/>
                        <a:t>4to. </a:t>
                      </a:r>
                      <a:r>
                        <a:rPr lang="es-VE" sz="1800"/>
                        <a:t>Mes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Análisis y planificación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0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Funcionalidad 1</a:t>
                      </a:r>
                      <a:endParaRPr sz="10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Diseño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Desarrollo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Inteligencia Artificial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Pruebas y Cierre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2"/>
          <p:cNvSpPr/>
          <p:nvPr/>
        </p:nvSpPr>
        <p:spPr>
          <a:xfrm>
            <a:off x="2987700" y="1910525"/>
            <a:ext cx="1303200" cy="167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800">
                <a:solidFill>
                  <a:schemeClr val="lt1"/>
                </a:solidFill>
              </a:rPr>
              <a:t>Definición del problema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518525" y="2940250"/>
            <a:ext cx="1493100" cy="180000"/>
          </a:xfrm>
          <a:prstGeom prst="homePlate">
            <a:avLst>
              <a:gd fmla="val 50000" name="adj"/>
            </a:avLst>
          </a:prstGeom>
          <a:solidFill>
            <a:srgbClr val="FABF8E"/>
          </a:solidFill>
          <a:ln cap="flat" cmpd="sng" w="1905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900">
                <a:solidFill>
                  <a:schemeClr val="dk1"/>
                </a:solidFill>
              </a:rPr>
              <a:t>Mockups en Figma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518525" y="3418438"/>
            <a:ext cx="1493100" cy="252600"/>
          </a:xfrm>
          <a:prstGeom prst="homePlate">
            <a:avLst>
              <a:gd fmla="val 50000" name="adj"/>
            </a:avLst>
          </a:prstGeom>
          <a:solidFill>
            <a:srgbClr val="FABF8E"/>
          </a:solidFill>
          <a:ln cap="flat" cmpd="sng" w="1905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800">
                <a:solidFill>
                  <a:schemeClr val="dk1"/>
                </a:solidFill>
              </a:rPr>
              <a:t>Diagrama</a:t>
            </a:r>
            <a:r>
              <a:rPr lang="es-VE" sz="700">
                <a:solidFill>
                  <a:schemeClr val="dk1"/>
                </a:solidFill>
              </a:rPr>
              <a:t> </a:t>
            </a:r>
            <a:r>
              <a:rPr lang="es-VE" sz="800">
                <a:solidFill>
                  <a:schemeClr val="dk1"/>
                </a:solidFill>
              </a:rPr>
              <a:t>de actividades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911599" y="3957585"/>
            <a:ext cx="2016300" cy="162000"/>
          </a:xfrm>
          <a:prstGeom prst="homePlate">
            <a:avLst>
              <a:gd fmla="val 53703" name="adj"/>
            </a:avLst>
          </a:prstGeom>
          <a:solidFill>
            <a:srgbClr val="C2D59B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Login y usuarios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5693125" y="5047363"/>
            <a:ext cx="1687200" cy="1755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Definición de variables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2987824" y="2294072"/>
            <a:ext cx="1152000" cy="198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lt1"/>
                </a:solidFill>
              </a:rPr>
              <a:t>Alcance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2987825" y="2509016"/>
            <a:ext cx="1152000" cy="1803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lt1"/>
                </a:solidFill>
              </a:rPr>
              <a:t>Requerimientos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2987825" y="2708517"/>
            <a:ext cx="1152000" cy="1803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lt1"/>
                </a:solidFill>
              </a:rPr>
              <a:t>Contexto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2987825" y="2122827"/>
            <a:ext cx="1152000" cy="1803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700">
                <a:solidFill>
                  <a:schemeClr val="lt1"/>
                </a:solidFill>
              </a:rPr>
              <a:t>Objetivos del proyecto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3518524" y="3189663"/>
            <a:ext cx="1303200" cy="198000"/>
          </a:xfrm>
          <a:prstGeom prst="homePlate">
            <a:avLst>
              <a:gd fmla="val 50000" name="adj"/>
            </a:avLst>
          </a:prstGeom>
          <a:solidFill>
            <a:srgbClr val="FABF8E"/>
          </a:solidFill>
          <a:ln cap="flat" cmpd="sng" w="1905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900">
                <a:solidFill>
                  <a:schemeClr val="dk1"/>
                </a:solidFill>
              </a:rPr>
              <a:t>Diagrama de clases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518522" y="3697363"/>
            <a:ext cx="1303200" cy="180000"/>
          </a:xfrm>
          <a:prstGeom prst="homePlate">
            <a:avLst>
              <a:gd fmla="val 50000" name="adj"/>
            </a:avLst>
          </a:prstGeom>
          <a:solidFill>
            <a:srgbClr val="FABF8E"/>
          </a:solidFill>
          <a:ln cap="flat" cmpd="sng" w="1905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800">
                <a:solidFill>
                  <a:schemeClr val="dk1"/>
                </a:solidFill>
              </a:rPr>
              <a:t>Diseño</a:t>
            </a:r>
            <a:r>
              <a:rPr lang="es-VE" sz="600">
                <a:solidFill>
                  <a:schemeClr val="dk1"/>
                </a:solidFill>
              </a:rPr>
              <a:t> </a:t>
            </a:r>
            <a:r>
              <a:rPr lang="es-VE" sz="800">
                <a:solidFill>
                  <a:schemeClr val="dk1"/>
                </a:solidFill>
              </a:rPr>
              <a:t>base de datos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4911599" y="4159598"/>
            <a:ext cx="2016300" cy="162000"/>
          </a:xfrm>
          <a:prstGeom prst="homePlate">
            <a:avLst>
              <a:gd fmla="val 53703" name="adj"/>
            </a:avLst>
          </a:prstGeom>
          <a:solidFill>
            <a:srgbClr val="C2D59B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Creación de eventos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4911599" y="4361598"/>
            <a:ext cx="2016300" cy="162000"/>
          </a:xfrm>
          <a:prstGeom prst="homePlate">
            <a:avLst>
              <a:gd fmla="val 53703" name="adj"/>
            </a:avLst>
          </a:prstGeom>
          <a:solidFill>
            <a:srgbClr val="C2D59B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Calculo de insumos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4911599" y="4603635"/>
            <a:ext cx="2016300" cy="162000"/>
          </a:xfrm>
          <a:prstGeom prst="homePlate">
            <a:avLst>
              <a:gd fmla="val 53703" name="adj"/>
            </a:avLst>
          </a:prstGeom>
          <a:solidFill>
            <a:srgbClr val="C2D59B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División de gastos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4911599" y="4808348"/>
            <a:ext cx="2016300" cy="162000"/>
          </a:xfrm>
          <a:prstGeom prst="homePlate">
            <a:avLst>
              <a:gd fmla="val 53703" name="adj"/>
            </a:avLst>
          </a:prstGeom>
          <a:solidFill>
            <a:srgbClr val="C2D59B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Comparador de precios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5693125" y="5302138"/>
            <a:ext cx="1687200" cy="1755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Creación de dataset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5693125" y="5555788"/>
            <a:ext cx="1687200" cy="1755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Ärbol de decisiones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693125" y="5829250"/>
            <a:ext cx="1687200" cy="1755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Recomendaciones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7093650" y="6092800"/>
            <a:ext cx="1687200" cy="175500"/>
          </a:xfrm>
          <a:prstGeom prst="homePlate">
            <a:avLst>
              <a:gd fmla="val 50000" name="adj"/>
            </a:avLst>
          </a:prstGeom>
          <a:solidFill>
            <a:srgbClr val="00FF00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Recomendaciones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205300" y="6292775"/>
            <a:ext cx="1687200" cy="175500"/>
          </a:xfrm>
          <a:prstGeom prst="homePlate">
            <a:avLst>
              <a:gd fmla="val 50000" name="adj"/>
            </a:avLst>
          </a:prstGeom>
          <a:solidFill>
            <a:srgbClr val="00FF00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Testin completo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205300" y="6492750"/>
            <a:ext cx="1687200" cy="175500"/>
          </a:xfrm>
          <a:prstGeom prst="homePlate">
            <a:avLst>
              <a:gd fmla="val 50000" name="adj"/>
            </a:avLst>
          </a:prstGeom>
          <a:solidFill>
            <a:srgbClr val="00FF00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Integración final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7205300" y="6740288"/>
            <a:ext cx="1687200" cy="175500"/>
          </a:xfrm>
          <a:prstGeom prst="homePlate">
            <a:avLst>
              <a:gd fmla="val 50000" name="adj"/>
            </a:avLst>
          </a:prstGeom>
          <a:solidFill>
            <a:srgbClr val="00FF00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Documentación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205300" y="6934600"/>
            <a:ext cx="1687200" cy="175500"/>
          </a:xfrm>
          <a:prstGeom prst="homePlate">
            <a:avLst>
              <a:gd fmla="val 50000" name="adj"/>
            </a:avLst>
          </a:prstGeom>
          <a:solidFill>
            <a:srgbClr val="00FF00"/>
          </a:solidFill>
          <a:ln cap="flat" cmpd="sng" w="254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solidFill>
                  <a:schemeClr val="dk1"/>
                </a:solidFill>
              </a:rPr>
              <a:t>Presentación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2013-07-13T16:52:20Z</dcterms:created>
  <dc:creator>admin</dc:creator>
</cp:coreProperties>
</file>